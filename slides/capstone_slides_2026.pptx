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Montserrat SemiBold"/>
      <p:regular r:id="rId16"/>
      <p:bold r:id="rId17"/>
      <p:italic r:id="rId18"/>
      <p:boldItalic r:id="rId19"/>
    </p:embeddedFont>
    <p:embeddedFont>
      <p:font typeface="Montserrat"/>
      <p:regular r:id="rId20"/>
      <p:bold r:id="rId21"/>
      <p:italic r:id="rId22"/>
      <p:boldItalic r:id="rId23"/>
    </p:embeddedFont>
    <p:embeddedFont>
      <p:font typeface="Oswald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regular.fntdata"/><Relationship Id="rId11" Type="http://schemas.openxmlformats.org/officeDocument/2006/relationships/slide" Target="slides/slide6.xml"/><Relationship Id="rId22" Type="http://schemas.openxmlformats.org/officeDocument/2006/relationships/font" Target="fonts/Montserrat-italic.fntdata"/><Relationship Id="rId10" Type="http://schemas.openxmlformats.org/officeDocument/2006/relationships/slide" Target="slides/slide5.xml"/><Relationship Id="rId21" Type="http://schemas.openxmlformats.org/officeDocument/2006/relationships/font" Target="fonts/Montserrat-bold.fntdata"/><Relationship Id="rId13" Type="http://schemas.openxmlformats.org/officeDocument/2006/relationships/slide" Target="slides/slide8.xml"/><Relationship Id="rId24" Type="http://schemas.openxmlformats.org/officeDocument/2006/relationships/font" Target="fonts/Oswald-bold.fntdata"/><Relationship Id="rId12" Type="http://schemas.openxmlformats.org/officeDocument/2006/relationships/slide" Target="slides/slide7.xml"/><Relationship Id="rId23" Type="http://schemas.openxmlformats.org/officeDocument/2006/relationships/font" Target="fonts/Montserrat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MontserratSemiBold-bold.fntdata"/><Relationship Id="rId16" Type="http://schemas.openxmlformats.org/officeDocument/2006/relationships/font" Target="fonts/MontserratSemiBold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ontserratSemiBold-boldItalic.fntdata"/><Relationship Id="rId6" Type="http://schemas.openxmlformats.org/officeDocument/2006/relationships/slide" Target="slides/slide1.xml"/><Relationship Id="rId18" Type="http://schemas.openxmlformats.org/officeDocument/2006/relationships/font" Target="fonts/MontserratSemiBold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df3b6b5b34_0_54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df3b6b5b34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df3b6b5b34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df3b6b5b34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df3b6b5b34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df3b6b5b34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df3b6b5b34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df3b6b5b34_0_1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df3b6b5b34_0_1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df3b6b5b34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df3b6b5b34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df3b6b5b34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df3b6b5b34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df3b6b5b34_0_2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df3b6b5b34_0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df3b6b5b34_0_2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df3b6b5b34_0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df3b6b5b34_0_1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df3b6b5b34_0_1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df4ad5b51f_8_0)">
  <p:cSld name="Generated (g3df4ad5b51f_8_0)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hyperlink" Target="https://www.kaggle.com/datasets/jvanelteren/boardgamegeek-reviews/data?select=games_detailed_info2025.csv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jpg"/><Relationship Id="rId4" Type="http://schemas.openxmlformats.org/officeDocument/2006/relationships/hyperlink" Target="https://frontend-ui-production-1ab7.up.railway.app" TargetMode="External"/><Relationship Id="rId5" Type="http://schemas.openxmlformats.org/officeDocument/2006/relationships/image" Target="../media/image10.png"/><Relationship Id="rId6" Type="http://schemas.openxmlformats.org/officeDocument/2006/relationships/hyperlink" Target="https://github.com/elam03/ga-adl-317-capstone" TargetMode="External"/><Relationship Id="rId7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1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inematic, top-down professional photograph of various board game components: colorful wooden meeples, dice, and intricate game board maps scattered artistically on a dark wood surface. Soft, dramatic lighting with shallow depth of field." id="54" name="Google Shape;5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4"/>
          <p:cNvSpPr/>
          <p:nvPr/>
        </p:nvSpPr>
        <p:spPr>
          <a:xfrm>
            <a:off x="2667000" y="3048000"/>
            <a:ext cx="3810000" cy="3810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4"/>
          <p:cNvSpPr txBox="1"/>
          <p:nvPr/>
        </p:nvSpPr>
        <p:spPr>
          <a:xfrm>
            <a:off x="571500" y="1524000"/>
            <a:ext cx="8001000" cy="14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44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Capstone</a:t>
            </a:r>
            <a:r>
              <a:rPr b="1" lang="en" sz="444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: Board Game Design Analysis</a:t>
            </a:r>
            <a:endParaRPr b="1" sz="444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57" name="Google Shape;57;p14"/>
          <p:cNvSpPr txBox="1"/>
          <p:nvPr/>
        </p:nvSpPr>
        <p:spPr>
          <a:xfrm>
            <a:off x="571500" y="3238500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800">
                <a:solidFill>
                  <a:srgbClr val="F0F0F0"/>
                </a:solidFill>
                <a:latin typeface="Montserrat"/>
                <a:ea typeface="Montserrat"/>
                <a:cs typeface="Montserrat"/>
                <a:sym typeface="Montserrat"/>
              </a:rPr>
              <a:t>CAPSTONE PROJECT 2026</a:t>
            </a:r>
            <a:endParaRPr b="0" sz="1800">
              <a:solidFill>
                <a:srgbClr val="F0F0F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" name="Google Shape;58;p14"/>
          <p:cNvSpPr txBox="1"/>
          <p:nvPr/>
        </p:nvSpPr>
        <p:spPr>
          <a:xfrm>
            <a:off x="571500" y="419100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EAB30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PRESENTED BY ERIC LAM</a:t>
            </a:r>
            <a:endParaRPr b="0" sz="1400">
              <a:solidFill>
                <a:srgbClr val="EAB308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59" name="Google Shape;5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428900" cy="142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0" y="3714750"/>
            <a:ext cx="1428900" cy="142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6" name="Google Shape;66;p15"/>
          <p:cNvGrpSpPr/>
          <p:nvPr/>
        </p:nvGrpSpPr>
        <p:grpSpPr>
          <a:xfrm>
            <a:off x="571500" y="428625"/>
            <a:ext cx="8001000" cy="904875"/>
            <a:chOff x="571500" y="428625"/>
            <a:chExt cx="8001000" cy="904875"/>
          </a:xfrm>
        </p:grpSpPr>
        <p:sp>
          <p:nvSpPr>
            <p:cNvPr id="67" name="Google Shape;67;p15"/>
            <p:cNvSpPr/>
            <p:nvPr/>
          </p:nvSpPr>
          <p:spPr>
            <a:xfrm>
              <a:off x="571500" y="428625"/>
              <a:ext cx="3810000" cy="47700"/>
            </a:xfrm>
            <a:prstGeom prst="rect">
              <a:avLst/>
            </a:prstGeom>
            <a:solidFill>
              <a:srgbClr val="EAB30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15"/>
            <p:cNvSpPr txBox="1"/>
            <p:nvPr/>
          </p:nvSpPr>
          <p:spPr>
            <a:xfrm>
              <a:off x="571500" y="571500"/>
              <a:ext cx="8001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600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Problem &amp; Motivation</a:t>
              </a:r>
              <a:endParaRPr b="1" sz="36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</p:grpSp>
      <p:grpSp>
        <p:nvGrpSpPr>
          <p:cNvPr id="69" name="Google Shape;69;p15"/>
          <p:cNvGrpSpPr/>
          <p:nvPr/>
        </p:nvGrpSpPr>
        <p:grpSpPr>
          <a:xfrm>
            <a:off x="571500" y="1524000"/>
            <a:ext cx="3905400" cy="2667000"/>
            <a:chOff x="571500" y="1524000"/>
            <a:chExt cx="3905400" cy="2667000"/>
          </a:xfrm>
        </p:grpSpPr>
        <p:sp>
          <p:nvSpPr>
            <p:cNvPr id="70" name="Google Shape;70;p15"/>
            <p:cNvSpPr/>
            <p:nvPr/>
          </p:nvSpPr>
          <p:spPr>
            <a:xfrm>
              <a:off x="571500" y="1524000"/>
              <a:ext cx="3905400" cy="2667000"/>
            </a:xfrm>
            <a:prstGeom prst="roundRect">
              <a:avLst>
                <a:gd fmla="val 4285" name="adj"/>
              </a:avLst>
            </a:prstGeom>
            <a:solidFill>
              <a:srgbClr val="1E293B">
                <a:alpha val="80000"/>
              </a:srgbClr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5"/>
            <p:cNvSpPr txBox="1"/>
            <p:nvPr/>
          </p:nvSpPr>
          <p:spPr>
            <a:xfrm>
              <a:off x="809625" y="1761236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80">
                  <a:solidFill>
                    <a:srgbClr val="EAB30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lightbulb</a:t>
              </a:r>
              <a:endParaRPr sz="2480">
                <a:solidFill>
                  <a:srgbClr val="EAB30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72" name="Google Shape;72;p15"/>
            <p:cNvSpPr txBox="1"/>
            <p:nvPr/>
          </p:nvSpPr>
          <p:spPr>
            <a:xfrm>
              <a:off x="809625" y="2238375"/>
              <a:ext cx="34290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Intent</a:t>
              </a:r>
              <a:endParaRPr b="1" sz="1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CBD5E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To provide insight for boardgame designers and publishers, offering inspiration and strategic guidance for new game design ideas.</a:t>
              </a:r>
              <a:endParaRPr b="0" sz="130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73" name="Google Shape;73;p15"/>
          <p:cNvGrpSpPr/>
          <p:nvPr/>
        </p:nvGrpSpPr>
        <p:grpSpPr>
          <a:xfrm>
            <a:off x="4667250" y="1524000"/>
            <a:ext cx="3905400" cy="2667000"/>
            <a:chOff x="4667250" y="1524000"/>
            <a:chExt cx="3905400" cy="2667000"/>
          </a:xfrm>
        </p:grpSpPr>
        <p:sp>
          <p:nvSpPr>
            <p:cNvPr id="74" name="Google Shape;74;p15"/>
            <p:cNvSpPr/>
            <p:nvPr/>
          </p:nvSpPr>
          <p:spPr>
            <a:xfrm>
              <a:off x="4667250" y="1524000"/>
              <a:ext cx="3905400" cy="2667000"/>
            </a:xfrm>
            <a:prstGeom prst="roundRect">
              <a:avLst>
                <a:gd fmla="val 4285" name="adj"/>
              </a:avLst>
            </a:prstGeom>
            <a:solidFill>
              <a:srgbClr val="1E293B">
                <a:alpha val="80000"/>
              </a:srgbClr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5"/>
            <p:cNvSpPr txBox="1"/>
            <p:nvPr/>
          </p:nvSpPr>
          <p:spPr>
            <a:xfrm>
              <a:off x="4905375" y="1761236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80">
                  <a:solidFill>
                    <a:srgbClr val="EAB30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analytics</a:t>
              </a:r>
              <a:endParaRPr sz="2480">
                <a:solidFill>
                  <a:srgbClr val="EAB30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76" name="Google Shape;76;p15"/>
            <p:cNvSpPr txBox="1"/>
            <p:nvPr/>
          </p:nvSpPr>
          <p:spPr>
            <a:xfrm>
              <a:off x="4905375" y="2238375"/>
              <a:ext cx="34290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Approach</a:t>
              </a:r>
              <a:endParaRPr b="1" sz="1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CBD5E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Predicting boardgame ratings by analyzing core game mechanics and themes to identify the drivers of player success.</a:t>
              </a:r>
              <a:endParaRPr b="0" sz="130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77" name="Google Shape;77;p15"/>
          <p:cNvGrpSpPr/>
          <p:nvPr/>
        </p:nvGrpSpPr>
        <p:grpSpPr>
          <a:xfrm>
            <a:off x="0" y="4667250"/>
            <a:ext cx="9144000" cy="476400"/>
            <a:chOff x="0" y="4667250"/>
            <a:chExt cx="9144000" cy="476400"/>
          </a:xfrm>
        </p:grpSpPr>
        <p:sp>
          <p:nvSpPr>
            <p:cNvPr id="78" name="Google Shape;78;p15"/>
            <p:cNvSpPr/>
            <p:nvPr/>
          </p:nvSpPr>
          <p:spPr>
            <a:xfrm>
              <a:off x="0" y="4667250"/>
              <a:ext cx="9144000" cy="476400"/>
            </a:xfrm>
            <a:prstGeom prst="rect">
              <a:avLst/>
            </a:prstGeom>
            <a:solidFill>
              <a:srgbClr val="0F172A">
                <a:alpha val="9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5"/>
            <p:cNvSpPr txBox="1"/>
            <p:nvPr/>
          </p:nvSpPr>
          <p:spPr>
            <a:xfrm>
              <a:off x="571500" y="4810125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64748B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BOARD GAME DESIGN ANALYSIS | 2026</a:t>
              </a:r>
              <a:endParaRPr b="0" sz="1000">
                <a:solidFill>
                  <a:srgbClr val="64748B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80" name="Google Shape;80;p15"/>
            <p:cNvSpPr txBox="1"/>
            <p:nvPr/>
          </p:nvSpPr>
          <p:spPr>
            <a:xfrm>
              <a:off x="7143750" y="4810125"/>
              <a:ext cx="14289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EAB308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ERIC LAM</a:t>
              </a:r>
              <a:endParaRPr b="0" sz="1000">
                <a:solidFill>
                  <a:srgbClr val="EAB308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6" name="Google Shape;86;p16"/>
          <p:cNvGrpSpPr/>
          <p:nvPr/>
        </p:nvGrpSpPr>
        <p:grpSpPr>
          <a:xfrm>
            <a:off x="571500" y="428625"/>
            <a:ext cx="8001000" cy="904875"/>
            <a:chOff x="571500" y="428625"/>
            <a:chExt cx="8001000" cy="904875"/>
          </a:xfrm>
        </p:grpSpPr>
        <p:sp>
          <p:nvSpPr>
            <p:cNvPr id="87" name="Google Shape;87;p16"/>
            <p:cNvSpPr/>
            <p:nvPr/>
          </p:nvSpPr>
          <p:spPr>
            <a:xfrm>
              <a:off x="571500" y="428625"/>
              <a:ext cx="3810000" cy="47700"/>
            </a:xfrm>
            <a:prstGeom prst="rect">
              <a:avLst/>
            </a:prstGeom>
            <a:solidFill>
              <a:srgbClr val="EAB30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6"/>
            <p:cNvSpPr txBox="1"/>
            <p:nvPr/>
          </p:nvSpPr>
          <p:spPr>
            <a:xfrm>
              <a:off x="571500" y="571500"/>
              <a:ext cx="8001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600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Data &amp; Methodology</a:t>
              </a:r>
              <a:endParaRPr b="1" sz="36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</p:grpSp>
      <p:grpSp>
        <p:nvGrpSpPr>
          <p:cNvPr id="89" name="Google Shape;89;p16"/>
          <p:cNvGrpSpPr/>
          <p:nvPr/>
        </p:nvGrpSpPr>
        <p:grpSpPr>
          <a:xfrm>
            <a:off x="571500" y="1428750"/>
            <a:ext cx="3905400" cy="1428900"/>
            <a:chOff x="571500" y="1428750"/>
            <a:chExt cx="3905400" cy="1428900"/>
          </a:xfrm>
        </p:grpSpPr>
        <p:sp>
          <p:nvSpPr>
            <p:cNvPr id="90" name="Google Shape;90;p16"/>
            <p:cNvSpPr/>
            <p:nvPr/>
          </p:nvSpPr>
          <p:spPr>
            <a:xfrm>
              <a:off x="571500" y="1428750"/>
              <a:ext cx="3905400" cy="1428900"/>
            </a:xfrm>
            <a:prstGeom prst="roundRect">
              <a:avLst>
                <a:gd fmla="val 8000" name="adj"/>
              </a:avLst>
            </a:prstGeom>
            <a:solidFill>
              <a:srgbClr val="1E293B">
                <a:alpha val="80000"/>
              </a:srgbClr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6"/>
            <p:cNvSpPr txBox="1"/>
            <p:nvPr/>
          </p:nvSpPr>
          <p:spPr>
            <a:xfrm>
              <a:off x="809625" y="1606677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EAB30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storage</a:t>
              </a:r>
              <a:endParaRPr sz="2400">
                <a:solidFill>
                  <a:srgbClr val="EAB30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92" name="Google Shape;92;p16"/>
            <p:cNvSpPr txBox="1"/>
            <p:nvPr/>
          </p:nvSpPr>
          <p:spPr>
            <a:xfrm>
              <a:off x="809625" y="2000250"/>
              <a:ext cx="3429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 u="sng">
                  <a:solidFill>
                    <a:schemeClr val="hlink"/>
                  </a:solidFill>
                  <a:latin typeface="Montserrat"/>
                  <a:ea typeface="Montserrat"/>
                  <a:cs typeface="Montserrat"/>
                  <a:sym typeface="Montserrat"/>
                  <a:hlinkClick r:id="rId5"/>
                </a:rPr>
                <a:t>Kaggle Dataset</a:t>
              </a:r>
              <a:endParaRPr b="1" sz="1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CBD5E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Source: BoardGameGeek Reviews</a:t>
              </a:r>
              <a:endParaRPr b="0" sz="110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94A3B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games_detailed_info2025.csv (~27k rows)</a:t>
              </a:r>
              <a:endParaRPr b="0" sz="1000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93" name="Google Shape;93;p16"/>
          <p:cNvGrpSpPr/>
          <p:nvPr/>
        </p:nvGrpSpPr>
        <p:grpSpPr>
          <a:xfrm>
            <a:off x="4667250" y="1428750"/>
            <a:ext cx="3905400" cy="1428900"/>
            <a:chOff x="4667250" y="1428750"/>
            <a:chExt cx="3905400" cy="1428900"/>
          </a:xfrm>
        </p:grpSpPr>
        <p:sp>
          <p:nvSpPr>
            <p:cNvPr id="94" name="Google Shape;94;p16"/>
            <p:cNvSpPr/>
            <p:nvPr/>
          </p:nvSpPr>
          <p:spPr>
            <a:xfrm>
              <a:off x="4667250" y="1428750"/>
              <a:ext cx="3905400" cy="1428900"/>
            </a:xfrm>
            <a:prstGeom prst="roundRect">
              <a:avLst>
                <a:gd fmla="val 8000" name="adj"/>
              </a:avLst>
            </a:prstGeom>
            <a:solidFill>
              <a:srgbClr val="1E293B">
                <a:alpha val="80000"/>
              </a:srgbClr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6"/>
            <p:cNvSpPr txBox="1"/>
            <p:nvPr/>
          </p:nvSpPr>
          <p:spPr>
            <a:xfrm>
              <a:off x="4905375" y="1606677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EAB30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list_alt</a:t>
              </a:r>
              <a:endParaRPr sz="2400">
                <a:solidFill>
                  <a:srgbClr val="EAB30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96" name="Google Shape;96;p16"/>
            <p:cNvSpPr txBox="1"/>
            <p:nvPr/>
          </p:nvSpPr>
          <p:spPr>
            <a:xfrm>
              <a:off x="4905375" y="2000250"/>
              <a:ext cx="3429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Feature Engineering</a:t>
              </a:r>
              <a:endParaRPr b="1" sz="1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CBD5E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Analyzing ~28 core attributes</a:t>
              </a:r>
              <a:endParaRPr b="0" sz="110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94A3B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Focused on complex mechanic combinations</a:t>
              </a:r>
              <a:endParaRPr b="0" sz="1000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97" name="Google Shape;97;p16"/>
          <p:cNvGrpSpPr/>
          <p:nvPr/>
        </p:nvGrpSpPr>
        <p:grpSpPr>
          <a:xfrm>
            <a:off x="571500" y="3048000"/>
            <a:ext cx="8001000" cy="1428900"/>
            <a:chOff x="571500" y="3048000"/>
            <a:chExt cx="8001000" cy="1428900"/>
          </a:xfrm>
        </p:grpSpPr>
        <p:sp>
          <p:nvSpPr>
            <p:cNvPr id="98" name="Google Shape;98;p16"/>
            <p:cNvSpPr/>
            <p:nvPr/>
          </p:nvSpPr>
          <p:spPr>
            <a:xfrm>
              <a:off x="571500" y="3048000"/>
              <a:ext cx="8001000" cy="1428900"/>
            </a:xfrm>
            <a:prstGeom prst="roundRect">
              <a:avLst>
                <a:gd fmla="val 8000" name="adj"/>
              </a:avLst>
            </a:prstGeom>
            <a:solidFill>
              <a:srgbClr val="1E293B">
                <a:alpha val="80000"/>
              </a:srgbClr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6"/>
            <p:cNvSpPr txBox="1"/>
            <p:nvPr/>
          </p:nvSpPr>
          <p:spPr>
            <a:xfrm>
              <a:off x="809625" y="3225927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EAB30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psychology</a:t>
              </a:r>
              <a:endParaRPr sz="2400">
                <a:solidFill>
                  <a:srgbClr val="EAB30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00" name="Google Shape;100;p16"/>
            <p:cNvSpPr txBox="1"/>
            <p:nvPr/>
          </p:nvSpPr>
          <p:spPr>
            <a:xfrm>
              <a:off x="1333500" y="3190875"/>
              <a:ext cx="70485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Modeling Objective</a:t>
              </a:r>
              <a:endParaRPr b="1" sz="1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CBD5E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Predicting board game ratings based on player-favored mechanics:</a:t>
              </a:r>
              <a:endParaRPr b="0" sz="120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69850" lvl="0" marL="190500" marR="0" rtl="0" algn="l">
                <a:spcBef>
                  <a:spcPts val="600"/>
                </a:spcBef>
                <a:spcAft>
                  <a:spcPts val="0"/>
                </a:spcAft>
                <a:buClr>
                  <a:srgbClr val="94A3B8"/>
                </a:buClr>
                <a:buSzPts val="1100"/>
                <a:buFont typeface="Montserrat"/>
                <a:buChar char="●"/>
              </a:pPr>
              <a:r>
                <a:rPr b="0" lang="en" sz="1100">
                  <a:solidFill>
                    <a:srgbClr val="94A3B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Board game Mechanics as primary input vectors</a:t>
              </a:r>
              <a:endParaRPr b="0" sz="1100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69850" lvl="0" marL="190500" marR="0" rtl="0" algn="l">
                <a:spcBef>
                  <a:spcPts val="300"/>
                </a:spcBef>
                <a:spcAft>
                  <a:spcPts val="0"/>
                </a:spcAft>
                <a:buClr>
                  <a:srgbClr val="94A3B8"/>
                </a:buClr>
                <a:buSzPts val="1100"/>
                <a:buFont typeface="Montserrat"/>
                <a:buChar char="●"/>
              </a:pPr>
              <a:r>
                <a:rPr b="0" lang="en" sz="1100">
                  <a:solidFill>
                    <a:srgbClr val="94A3B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Average Rating as the target variable for regression</a:t>
              </a:r>
              <a:endParaRPr b="0" sz="1100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01" name="Google Shape;101;p16"/>
          <p:cNvGrpSpPr/>
          <p:nvPr/>
        </p:nvGrpSpPr>
        <p:grpSpPr>
          <a:xfrm>
            <a:off x="0" y="4667250"/>
            <a:ext cx="9144000" cy="476400"/>
            <a:chOff x="0" y="4667250"/>
            <a:chExt cx="9144000" cy="476400"/>
          </a:xfrm>
        </p:grpSpPr>
        <p:sp>
          <p:nvSpPr>
            <p:cNvPr id="102" name="Google Shape;102;p16"/>
            <p:cNvSpPr/>
            <p:nvPr/>
          </p:nvSpPr>
          <p:spPr>
            <a:xfrm>
              <a:off x="0" y="4667250"/>
              <a:ext cx="9144000" cy="476400"/>
            </a:xfrm>
            <a:prstGeom prst="rect">
              <a:avLst/>
            </a:prstGeom>
            <a:solidFill>
              <a:srgbClr val="0F172A">
                <a:alpha val="9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6"/>
            <p:cNvSpPr txBox="1"/>
            <p:nvPr/>
          </p:nvSpPr>
          <p:spPr>
            <a:xfrm>
              <a:off x="571500" y="4810125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64748B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BOARD GAME DESIGN ANALYSIS | 2026</a:t>
              </a:r>
              <a:endParaRPr b="0" sz="1000">
                <a:solidFill>
                  <a:srgbClr val="64748B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04" name="Google Shape;104;p16"/>
            <p:cNvSpPr txBox="1"/>
            <p:nvPr/>
          </p:nvSpPr>
          <p:spPr>
            <a:xfrm>
              <a:off x="7143750" y="4810125"/>
              <a:ext cx="14289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EAB308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ERIC LAM</a:t>
              </a:r>
              <a:endParaRPr b="0" sz="1000">
                <a:solidFill>
                  <a:srgbClr val="EAB308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>
              <a:alpha val="8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0" name="Google Shape;110;p17"/>
          <p:cNvGrpSpPr/>
          <p:nvPr/>
        </p:nvGrpSpPr>
        <p:grpSpPr>
          <a:xfrm>
            <a:off x="571500" y="428625"/>
            <a:ext cx="8001000" cy="904875"/>
            <a:chOff x="571500" y="428625"/>
            <a:chExt cx="8001000" cy="904875"/>
          </a:xfrm>
        </p:grpSpPr>
        <p:sp>
          <p:nvSpPr>
            <p:cNvPr id="111" name="Google Shape;111;p17"/>
            <p:cNvSpPr/>
            <p:nvPr/>
          </p:nvSpPr>
          <p:spPr>
            <a:xfrm>
              <a:off x="571500" y="428625"/>
              <a:ext cx="3810000" cy="47700"/>
            </a:xfrm>
            <a:prstGeom prst="rect">
              <a:avLst/>
            </a:prstGeom>
            <a:solidFill>
              <a:srgbClr val="EAB30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7"/>
            <p:cNvSpPr txBox="1"/>
            <p:nvPr/>
          </p:nvSpPr>
          <p:spPr>
            <a:xfrm>
              <a:off x="571500" y="571500"/>
              <a:ext cx="8001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600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Model Architecture</a:t>
              </a:r>
              <a:r>
                <a:rPr b="1" lang="en" sz="3600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 &amp; Results</a:t>
              </a:r>
              <a:endParaRPr b="1" sz="36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</p:grpSp>
      <p:grpSp>
        <p:nvGrpSpPr>
          <p:cNvPr id="113" name="Google Shape;113;p17"/>
          <p:cNvGrpSpPr/>
          <p:nvPr/>
        </p:nvGrpSpPr>
        <p:grpSpPr>
          <a:xfrm>
            <a:off x="571500" y="1428750"/>
            <a:ext cx="3905400" cy="1428900"/>
            <a:chOff x="571500" y="1428750"/>
            <a:chExt cx="3905400" cy="1428900"/>
          </a:xfrm>
        </p:grpSpPr>
        <p:sp>
          <p:nvSpPr>
            <p:cNvPr id="114" name="Google Shape;114;p17"/>
            <p:cNvSpPr/>
            <p:nvPr/>
          </p:nvSpPr>
          <p:spPr>
            <a:xfrm>
              <a:off x="571500" y="1428750"/>
              <a:ext cx="3905400" cy="1428900"/>
            </a:xfrm>
            <a:prstGeom prst="roundRect">
              <a:avLst>
                <a:gd fmla="val 8000" name="adj"/>
              </a:avLst>
            </a:prstGeom>
            <a:solidFill>
              <a:srgbClr val="1E293B">
                <a:alpha val="80000"/>
              </a:srgbClr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7"/>
            <p:cNvSpPr txBox="1"/>
            <p:nvPr/>
          </p:nvSpPr>
          <p:spPr>
            <a:xfrm>
              <a:off x="809625" y="1606677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EAB30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hub</a:t>
              </a:r>
              <a:endParaRPr sz="2400">
                <a:solidFill>
                  <a:srgbClr val="EAB30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16" name="Google Shape;116;p17"/>
            <p:cNvSpPr txBox="1"/>
            <p:nvPr/>
          </p:nvSpPr>
          <p:spPr>
            <a:xfrm>
              <a:off x="809625" y="1952625"/>
              <a:ext cx="34290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DeepNet DNN</a:t>
              </a:r>
              <a:endParaRPr b="1" sz="1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CBD5E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MLP with Batch Normalization &amp; Dropout layers. Structure: 512 512 256 128 1.</a:t>
              </a:r>
              <a:endParaRPr b="0" sz="110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17" name="Google Shape;117;p17"/>
          <p:cNvGrpSpPr/>
          <p:nvPr/>
        </p:nvGrpSpPr>
        <p:grpSpPr>
          <a:xfrm>
            <a:off x="4667250" y="1428750"/>
            <a:ext cx="3905400" cy="1428900"/>
            <a:chOff x="4667250" y="1428750"/>
            <a:chExt cx="3905400" cy="1428900"/>
          </a:xfrm>
        </p:grpSpPr>
        <p:sp>
          <p:nvSpPr>
            <p:cNvPr id="118" name="Google Shape;118;p17"/>
            <p:cNvSpPr/>
            <p:nvPr/>
          </p:nvSpPr>
          <p:spPr>
            <a:xfrm>
              <a:off x="4667250" y="1428750"/>
              <a:ext cx="3905400" cy="1428900"/>
            </a:xfrm>
            <a:prstGeom prst="roundRect">
              <a:avLst>
                <a:gd fmla="val 8000" name="adj"/>
              </a:avLst>
            </a:prstGeom>
            <a:solidFill>
              <a:srgbClr val="1E293B">
                <a:alpha val="80000"/>
              </a:srgbClr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7"/>
            <p:cNvSpPr txBox="1"/>
            <p:nvPr/>
          </p:nvSpPr>
          <p:spPr>
            <a:xfrm>
              <a:off x="4905375" y="1606677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EAB30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balance</a:t>
              </a:r>
              <a:endParaRPr sz="2400">
                <a:solidFill>
                  <a:srgbClr val="EAB30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20" name="Google Shape;120;p17"/>
            <p:cNvSpPr txBox="1"/>
            <p:nvPr/>
          </p:nvSpPr>
          <p:spPr>
            <a:xfrm>
              <a:off x="4905375" y="1952625"/>
              <a:ext cx="34290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Robust Optimization</a:t>
              </a:r>
              <a:endParaRPr b="1" sz="1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CBD5E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Implemented HuberLoss to ensure the model remains robust against outliers in game ratings.</a:t>
              </a:r>
              <a:endParaRPr b="0" sz="110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21" name="Google Shape;121;p17"/>
          <p:cNvGrpSpPr/>
          <p:nvPr/>
        </p:nvGrpSpPr>
        <p:grpSpPr>
          <a:xfrm>
            <a:off x="571500" y="3048000"/>
            <a:ext cx="8001000" cy="1428900"/>
            <a:chOff x="571500" y="3048000"/>
            <a:chExt cx="8001000" cy="1428900"/>
          </a:xfrm>
        </p:grpSpPr>
        <p:sp>
          <p:nvSpPr>
            <p:cNvPr id="122" name="Google Shape;122;p17"/>
            <p:cNvSpPr/>
            <p:nvPr/>
          </p:nvSpPr>
          <p:spPr>
            <a:xfrm>
              <a:off x="571500" y="3048000"/>
              <a:ext cx="8001000" cy="1428900"/>
            </a:xfrm>
            <a:prstGeom prst="roundRect">
              <a:avLst>
                <a:gd fmla="val 8000" name="adj"/>
              </a:avLst>
            </a:prstGeom>
            <a:solidFill>
              <a:srgbClr val="1E293B">
                <a:alpha val="80000"/>
              </a:srgbClr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7"/>
            <p:cNvSpPr txBox="1"/>
            <p:nvPr/>
          </p:nvSpPr>
          <p:spPr>
            <a:xfrm>
              <a:off x="809625" y="3225927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EAB30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insights</a:t>
              </a:r>
              <a:endParaRPr sz="2400">
                <a:solidFill>
                  <a:srgbClr val="EAB30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24" name="Google Shape;124;p17"/>
            <p:cNvSpPr txBox="1"/>
            <p:nvPr/>
          </p:nvSpPr>
          <p:spPr>
            <a:xfrm>
              <a:off x="1333500" y="3190875"/>
              <a:ext cx="70485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Test Set Results &amp; Summary</a:t>
              </a:r>
              <a:endParaRPr b="1" sz="1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EAB30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MAE: ~0.33 | RMSE: ~0.48 | R: ~0.72</a:t>
              </a:r>
              <a:endParaRPr b="1" sz="1300">
                <a:solidFill>
                  <a:srgbClr val="EAB30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94A3B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model successfully captures complex interactions between game mechanics and categories to predict overall player reception.</a:t>
              </a:r>
              <a:endParaRPr b="0" sz="1100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25" name="Google Shape;125;p17"/>
          <p:cNvGrpSpPr/>
          <p:nvPr/>
        </p:nvGrpSpPr>
        <p:grpSpPr>
          <a:xfrm>
            <a:off x="0" y="4667250"/>
            <a:ext cx="9144000" cy="476400"/>
            <a:chOff x="0" y="4667250"/>
            <a:chExt cx="9144000" cy="476400"/>
          </a:xfrm>
        </p:grpSpPr>
        <p:sp>
          <p:nvSpPr>
            <p:cNvPr id="126" name="Google Shape;126;p17"/>
            <p:cNvSpPr/>
            <p:nvPr/>
          </p:nvSpPr>
          <p:spPr>
            <a:xfrm>
              <a:off x="0" y="4667250"/>
              <a:ext cx="9144000" cy="476400"/>
            </a:xfrm>
            <a:prstGeom prst="rect">
              <a:avLst/>
            </a:prstGeom>
            <a:solidFill>
              <a:srgbClr val="0F172A">
                <a:alpha val="9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7"/>
            <p:cNvSpPr txBox="1"/>
            <p:nvPr/>
          </p:nvSpPr>
          <p:spPr>
            <a:xfrm>
              <a:off x="571500" y="4810125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64748B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BOARD GAME DESIGN ANALYSIS | 2026</a:t>
              </a:r>
              <a:endParaRPr b="0" sz="1000">
                <a:solidFill>
                  <a:srgbClr val="64748B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28" name="Google Shape;128;p17"/>
            <p:cNvSpPr txBox="1"/>
            <p:nvPr/>
          </p:nvSpPr>
          <p:spPr>
            <a:xfrm>
              <a:off x="7143750" y="4810125"/>
              <a:ext cx="14289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EAB308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ERIC LAM</a:t>
              </a:r>
              <a:endParaRPr b="0" sz="1000">
                <a:solidFill>
                  <a:srgbClr val="EAB308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>
              <a:alpha val="8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4" name="Google Shape;134;p18"/>
          <p:cNvGrpSpPr/>
          <p:nvPr/>
        </p:nvGrpSpPr>
        <p:grpSpPr>
          <a:xfrm>
            <a:off x="571500" y="428625"/>
            <a:ext cx="8001000" cy="904875"/>
            <a:chOff x="571500" y="428625"/>
            <a:chExt cx="8001000" cy="904875"/>
          </a:xfrm>
        </p:grpSpPr>
        <p:sp>
          <p:nvSpPr>
            <p:cNvPr id="135" name="Google Shape;135;p18"/>
            <p:cNvSpPr/>
            <p:nvPr/>
          </p:nvSpPr>
          <p:spPr>
            <a:xfrm>
              <a:off x="571500" y="428625"/>
              <a:ext cx="3810000" cy="47700"/>
            </a:xfrm>
            <a:prstGeom prst="rect">
              <a:avLst/>
            </a:prstGeom>
            <a:solidFill>
              <a:srgbClr val="EAB30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8"/>
            <p:cNvSpPr txBox="1"/>
            <p:nvPr/>
          </p:nvSpPr>
          <p:spPr>
            <a:xfrm>
              <a:off x="571500" y="571500"/>
              <a:ext cx="8001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600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Deployment</a:t>
              </a:r>
              <a:endParaRPr b="1" sz="36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</p:grpSp>
      <p:grpSp>
        <p:nvGrpSpPr>
          <p:cNvPr id="137" name="Google Shape;137;p18"/>
          <p:cNvGrpSpPr/>
          <p:nvPr/>
        </p:nvGrpSpPr>
        <p:grpSpPr>
          <a:xfrm>
            <a:off x="0" y="4667250"/>
            <a:ext cx="9144000" cy="476400"/>
            <a:chOff x="0" y="4667250"/>
            <a:chExt cx="9144000" cy="476400"/>
          </a:xfrm>
        </p:grpSpPr>
        <p:sp>
          <p:nvSpPr>
            <p:cNvPr id="138" name="Google Shape;138;p18"/>
            <p:cNvSpPr/>
            <p:nvPr/>
          </p:nvSpPr>
          <p:spPr>
            <a:xfrm>
              <a:off x="0" y="4667250"/>
              <a:ext cx="9144000" cy="476400"/>
            </a:xfrm>
            <a:prstGeom prst="rect">
              <a:avLst/>
            </a:prstGeom>
            <a:solidFill>
              <a:srgbClr val="0F172A">
                <a:alpha val="9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8"/>
            <p:cNvSpPr txBox="1"/>
            <p:nvPr/>
          </p:nvSpPr>
          <p:spPr>
            <a:xfrm>
              <a:off x="571500" y="4810125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64748B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BOARD GAME DESIGN ANALYSIS | 2026</a:t>
              </a:r>
              <a:endParaRPr b="0" sz="1000">
                <a:solidFill>
                  <a:srgbClr val="64748B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40" name="Google Shape;140;p18"/>
            <p:cNvSpPr txBox="1"/>
            <p:nvPr/>
          </p:nvSpPr>
          <p:spPr>
            <a:xfrm>
              <a:off x="7143750" y="4810125"/>
              <a:ext cx="14289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EAB308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ERIC LAM</a:t>
              </a:r>
              <a:endParaRPr b="0" sz="1000">
                <a:solidFill>
                  <a:srgbClr val="EAB308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grpSp>
        <p:nvGrpSpPr>
          <p:cNvPr id="141" name="Google Shape;141;p18"/>
          <p:cNvGrpSpPr/>
          <p:nvPr/>
        </p:nvGrpSpPr>
        <p:grpSpPr>
          <a:xfrm>
            <a:off x="571518" y="1428750"/>
            <a:ext cx="3905459" cy="1428900"/>
            <a:chOff x="571500" y="1428750"/>
            <a:chExt cx="1819200" cy="1428900"/>
          </a:xfrm>
        </p:grpSpPr>
        <p:sp>
          <p:nvSpPr>
            <p:cNvPr id="142" name="Google Shape;142;p18"/>
            <p:cNvSpPr/>
            <p:nvPr/>
          </p:nvSpPr>
          <p:spPr>
            <a:xfrm>
              <a:off x="571500" y="1428750"/>
              <a:ext cx="1819200" cy="1428900"/>
            </a:xfrm>
            <a:prstGeom prst="roundRect">
              <a:avLst>
                <a:gd fmla="val 8000" name="adj"/>
              </a:avLst>
            </a:prstGeom>
            <a:solidFill>
              <a:srgbClr val="1E293B">
                <a:alpha val="80000"/>
              </a:srgbClr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8"/>
            <p:cNvSpPr txBox="1"/>
            <p:nvPr/>
          </p:nvSpPr>
          <p:spPr>
            <a:xfrm>
              <a:off x="649726" y="1643025"/>
              <a:ext cx="1664400" cy="79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Deployed to Railway</a:t>
              </a:r>
              <a:endParaRPr b="1" sz="1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100" u="sng">
                  <a:solidFill>
                    <a:schemeClr val="hlink"/>
                  </a:solidFill>
                  <a:latin typeface="Montserrat"/>
                  <a:ea typeface="Montserrat"/>
                  <a:cs typeface="Montserrat"/>
                  <a:sym typeface="Montserrat"/>
                  <a:hlinkClick r:id="rId4"/>
                </a:rPr>
                <a:t>Link</a:t>
              </a:r>
              <a:endParaRPr b="0" sz="110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pic>
        <p:nvPicPr>
          <p:cNvPr id="144" name="Google Shape;144;p18" title="Screenshot 2026-05-07 at 2.29.15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1500" y="3132425"/>
            <a:ext cx="3726824" cy="1534826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/>
          <p:nvPr/>
        </p:nvSpPr>
        <p:spPr>
          <a:xfrm>
            <a:off x="4667100" y="1428750"/>
            <a:ext cx="3905400" cy="1428900"/>
          </a:xfrm>
          <a:prstGeom prst="roundRect">
            <a:avLst>
              <a:gd fmla="val 8000" name="adj"/>
            </a:avLst>
          </a:prstGeom>
          <a:solidFill>
            <a:srgbClr val="1E293B">
              <a:alpha val="80000"/>
            </a:srgbClr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8"/>
          <p:cNvSpPr txBox="1"/>
          <p:nvPr/>
        </p:nvSpPr>
        <p:spPr>
          <a:xfrm>
            <a:off x="4905300" y="1606675"/>
            <a:ext cx="34290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Public Github Repo</a:t>
            </a:r>
            <a:endParaRPr b="1" sz="1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6"/>
              </a:rPr>
              <a:t>Link</a:t>
            </a:r>
            <a:endParaRPr b="0" sz="1100">
              <a:solidFill>
                <a:srgbClr val="CBD5E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7" name="Google Shape;147;p18"/>
          <p:cNvSpPr txBox="1"/>
          <p:nvPr/>
        </p:nvSpPr>
        <p:spPr>
          <a:xfrm>
            <a:off x="4905225" y="1606677"/>
            <a:ext cx="38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EAB308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e</a:t>
            </a:r>
            <a:endParaRPr sz="2400">
              <a:solidFill>
                <a:srgbClr val="EAB308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  <p:pic>
        <p:nvPicPr>
          <p:cNvPr id="148" name="Google Shape;148;p18" title="Screenshot 2026-05-07 at 2.36.03 PM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667100" y="3132425"/>
            <a:ext cx="3905398" cy="1534825"/>
          </a:xfrm>
          <a:prstGeom prst="rect">
            <a:avLst/>
          </a:prstGeom>
          <a:solidFill>
            <a:srgbClr val="0F172A">
              <a:alpha val="85000"/>
            </a:srgbClr>
          </a:solidFill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>
              <a:alpha val="8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4" name="Google Shape;154;p19"/>
          <p:cNvGrpSpPr/>
          <p:nvPr/>
        </p:nvGrpSpPr>
        <p:grpSpPr>
          <a:xfrm>
            <a:off x="571500" y="428625"/>
            <a:ext cx="8001000" cy="904875"/>
            <a:chOff x="571500" y="428625"/>
            <a:chExt cx="8001000" cy="904875"/>
          </a:xfrm>
        </p:grpSpPr>
        <p:sp>
          <p:nvSpPr>
            <p:cNvPr id="155" name="Google Shape;155;p19"/>
            <p:cNvSpPr/>
            <p:nvPr/>
          </p:nvSpPr>
          <p:spPr>
            <a:xfrm>
              <a:off x="571500" y="428625"/>
              <a:ext cx="3810000" cy="47700"/>
            </a:xfrm>
            <a:prstGeom prst="rect">
              <a:avLst/>
            </a:prstGeom>
            <a:solidFill>
              <a:srgbClr val="EAB30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9"/>
            <p:cNvSpPr txBox="1"/>
            <p:nvPr/>
          </p:nvSpPr>
          <p:spPr>
            <a:xfrm>
              <a:off x="571500" y="571500"/>
              <a:ext cx="8001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600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RAG Integration</a:t>
              </a:r>
              <a:endParaRPr b="1" sz="36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</p:grpSp>
      <p:grpSp>
        <p:nvGrpSpPr>
          <p:cNvPr id="157" name="Google Shape;157;p19"/>
          <p:cNvGrpSpPr/>
          <p:nvPr/>
        </p:nvGrpSpPr>
        <p:grpSpPr>
          <a:xfrm>
            <a:off x="571500" y="1428750"/>
            <a:ext cx="3905400" cy="1428900"/>
            <a:chOff x="571500" y="1428750"/>
            <a:chExt cx="3905400" cy="1428900"/>
          </a:xfrm>
        </p:grpSpPr>
        <p:sp>
          <p:nvSpPr>
            <p:cNvPr id="158" name="Google Shape;158;p19"/>
            <p:cNvSpPr/>
            <p:nvPr/>
          </p:nvSpPr>
          <p:spPr>
            <a:xfrm>
              <a:off x="571500" y="1428750"/>
              <a:ext cx="3905400" cy="1428900"/>
            </a:xfrm>
            <a:prstGeom prst="roundRect">
              <a:avLst>
                <a:gd fmla="val 8000" name="adj"/>
              </a:avLst>
            </a:prstGeom>
            <a:solidFill>
              <a:srgbClr val="1E293B">
                <a:alpha val="80000"/>
              </a:srgbClr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9"/>
            <p:cNvSpPr txBox="1"/>
            <p:nvPr/>
          </p:nvSpPr>
          <p:spPr>
            <a:xfrm>
              <a:off x="809625" y="163525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EAB30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search</a:t>
              </a:r>
              <a:endParaRPr sz="2400">
                <a:solidFill>
                  <a:srgbClr val="EAB30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60" name="Google Shape;160;p19"/>
            <p:cNvSpPr txBox="1"/>
            <p:nvPr/>
          </p:nvSpPr>
          <p:spPr>
            <a:xfrm>
              <a:off x="809625" y="2000250"/>
              <a:ext cx="3429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Semantic Search Engine</a:t>
              </a:r>
              <a:endParaRPr b="1" sz="1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CBD5E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Implemented Retrieval-Augmented Generation (RAG) using ChromaDB and LangChain.</a:t>
              </a:r>
              <a:endParaRPr b="0" sz="110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61" name="Google Shape;161;p19"/>
          <p:cNvGrpSpPr/>
          <p:nvPr/>
        </p:nvGrpSpPr>
        <p:grpSpPr>
          <a:xfrm>
            <a:off x="4667250" y="1428750"/>
            <a:ext cx="3905400" cy="1428900"/>
            <a:chOff x="4667250" y="1428750"/>
            <a:chExt cx="3905400" cy="1428900"/>
          </a:xfrm>
        </p:grpSpPr>
        <p:sp>
          <p:nvSpPr>
            <p:cNvPr id="162" name="Google Shape;162;p19"/>
            <p:cNvSpPr/>
            <p:nvPr/>
          </p:nvSpPr>
          <p:spPr>
            <a:xfrm>
              <a:off x="4667250" y="1428750"/>
              <a:ext cx="3905400" cy="1428900"/>
            </a:xfrm>
            <a:prstGeom prst="roundRect">
              <a:avLst>
                <a:gd fmla="val 8000" name="adj"/>
              </a:avLst>
            </a:prstGeom>
            <a:solidFill>
              <a:srgbClr val="1E293B">
                <a:alpha val="80000"/>
              </a:srgbClr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9"/>
            <p:cNvSpPr txBox="1"/>
            <p:nvPr/>
          </p:nvSpPr>
          <p:spPr>
            <a:xfrm>
              <a:off x="4905375" y="163525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rgbClr val="EAB30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database</a:t>
              </a:r>
              <a:endParaRPr sz="600">
                <a:solidFill>
                  <a:srgbClr val="EAB30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64" name="Google Shape;164;p19"/>
            <p:cNvSpPr txBox="1"/>
            <p:nvPr/>
          </p:nvSpPr>
          <p:spPr>
            <a:xfrm>
              <a:off x="4905375" y="2000250"/>
              <a:ext cx="3429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Vector Database Seeding</a:t>
              </a:r>
              <a:endParaRPr b="1" sz="1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CBD5E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Populated using `name` and `description` fields to enable nuanced game discovery.</a:t>
              </a:r>
              <a:endParaRPr b="0" sz="110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65" name="Google Shape;165;p19"/>
          <p:cNvGrpSpPr/>
          <p:nvPr/>
        </p:nvGrpSpPr>
        <p:grpSpPr>
          <a:xfrm>
            <a:off x="571500" y="3048000"/>
            <a:ext cx="8001000" cy="1428900"/>
            <a:chOff x="571500" y="3048000"/>
            <a:chExt cx="8001000" cy="1428900"/>
          </a:xfrm>
        </p:grpSpPr>
        <p:sp>
          <p:nvSpPr>
            <p:cNvPr id="166" name="Google Shape;166;p19"/>
            <p:cNvSpPr/>
            <p:nvPr/>
          </p:nvSpPr>
          <p:spPr>
            <a:xfrm>
              <a:off x="571500" y="3048000"/>
              <a:ext cx="8001000" cy="1428900"/>
            </a:xfrm>
            <a:prstGeom prst="roundRect">
              <a:avLst>
                <a:gd fmla="val 8000" name="adj"/>
              </a:avLst>
            </a:prstGeom>
            <a:solidFill>
              <a:srgbClr val="1E293B">
                <a:alpha val="80000"/>
              </a:srgbClr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19"/>
            <p:cNvSpPr txBox="1"/>
            <p:nvPr/>
          </p:nvSpPr>
          <p:spPr>
            <a:xfrm>
              <a:off x="809625" y="325450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EAB30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api</a:t>
              </a:r>
              <a:endParaRPr sz="2400">
                <a:solidFill>
                  <a:srgbClr val="EAB30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68" name="Google Shape;168;p19"/>
            <p:cNvSpPr txBox="1"/>
            <p:nvPr/>
          </p:nvSpPr>
          <p:spPr>
            <a:xfrm>
              <a:off x="1333500" y="3190875"/>
              <a:ext cx="70485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Backend API Infrastructure</a:t>
              </a:r>
              <a:endParaRPr b="1" sz="1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CBD5E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FastAPI server exposing core service endpoints:</a:t>
              </a:r>
              <a:endParaRPr b="0" sz="120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29845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94A3B8"/>
                </a:buClr>
                <a:buSzPts val="1100"/>
                <a:buFont typeface="Montserrat"/>
                <a:buChar char="●"/>
              </a:pPr>
              <a:r>
                <a:rPr b="0" lang="en" sz="1100">
                  <a:solidFill>
                    <a:srgbClr val="94A3B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`/rag/prepare`: Database initialization with test mode</a:t>
              </a:r>
              <a:endParaRPr b="0" sz="1100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298450" lvl="0" marL="457200" rtl="0" algn="l">
                <a:spcBef>
                  <a:spcPts val="225"/>
                </a:spcBef>
                <a:spcAft>
                  <a:spcPts val="0"/>
                </a:spcAft>
                <a:buClr>
                  <a:srgbClr val="94A3B8"/>
                </a:buClr>
                <a:buSzPts val="1100"/>
                <a:buFont typeface="Montserrat"/>
                <a:buChar char="●"/>
              </a:pPr>
              <a:r>
                <a:rPr b="0" lang="en" sz="1100">
                  <a:solidFill>
                    <a:srgbClr val="94A3B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`/rag/search`: Real-time semantic query processing</a:t>
              </a:r>
              <a:endParaRPr b="0" sz="1100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69" name="Google Shape;169;p19"/>
          <p:cNvGrpSpPr/>
          <p:nvPr/>
        </p:nvGrpSpPr>
        <p:grpSpPr>
          <a:xfrm>
            <a:off x="0" y="4667250"/>
            <a:ext cx="9144000" cy="476400"/>
            <a:chOff x="0" y="4667250"/>
            <a:chExt cx="9144000" cy="476400"/>
          </a:xfrm>
        </p:grpSpPr>
        <p:sp>
          <p:nvSpPr>
            <p:cNvPr id="170" name="Google Shape;170;p19"/>
            <p:cNvSpPr/>
            <p:nvPr/>
          </p:nvSpPr>
          <p:spPr>
            <a:xfrm>
              <a:off x="0" y="4667250"/>
              <a:ext cx="9144000" cy="476400"/>
            </a:xfrm>
            <a:prstGeom prst="rect">
              <a:avLst/>
            </a:prstGeom>
            <a:solidFill>
              <a:srgbClr val="0F172A">
                <a:alpha val="9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19"/>
            <p:cNvSpPr txBox="1"/>
            <p:nvPr/>
          </p:nvSpPr>
          <p:spPr>
            <a:xfrm>
              <a:off x="571500" y="4810125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64748B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BOARD GAME DESIGN ANALYSIS | 2026</a:t>
              </a:r>
              <a:endParaRPr b="0" sz="1000">
                <a:solidFill>
                  <a:srgbClr val="64748B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72" name="Google Shape;172;p19"/>
            <p:cNvSpPr txBox="1"/>
            <p:nvPr/>
          </p:nvSpPr>
          <p:spPr>
            <a:xfrm>
              <a:off x="7143750" y="4810125"/>
              <a:ext cx="14289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EAB308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ERIC LAM</a:t>
              </a:r>
              <a:endParaRPr b="0" sz="1000">
                <a:solidFill>
                  <a:srgbClr val="EAB308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>
              <a:alpha val="8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8" name="Google Shape;178;p20"/>
          <p:cNvGrpSpPr/>
          <p:nvPr/>
        </p:nvGrpSpPr>
        <p:grpSpPr>
          <a:xfrm>
            <a:off x="571500" y="428625"/>
            <a:ext cx="8001000" cy="904875"/>
            <a:chOff x="571500" y="428625"/>
            <a:chExt cx="8001000" cy="904875"/>
          </a:xfrm>
        </p:grpSpPr>
        <p:sp>
          <p:nvSpPr>
            <p:cNvPr id="179" name="Google Shape;179;p20"/>
            <p:cNvSpPr/>
            <p:nvPr/>
          </p:nvSpPr>
          <p:spPr>
            <a:xfrm>
              <a:off x="571500" y="428625"/>
              <a:ext cx="3810000" cy="47700"/>
            </a:xfrm>
            <a:prstGeom prst="rect">
              <a:avLst/>
            </a:prstGeom>
            <a:solidFill>
              <a:srgbClr val="EAB30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20"/>
            <p:cNvSpPr txBox="1"/>
            <p:nvPr/>
          </p:nvSpPr>
          <p:spPr>
            <a:xfrm>
              <a:off x="571500" y="571500"/>
              <a:ext cx="8001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600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Challenges &amp; Learnings</a:t>
              </a:r>
              <a:endParaRPr b="1" sz="36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</p:grpSp>
      <p:grpSp>
        <p:nvGrpSpPr>
          <p:cNvPr id="181" name="Google Shape;181;p20"/>
          <p:cNvGrpSpPr/>
          <p:nvPr/>
        </p:nvGrpSpPr>
        <p:grpSpPr>
          <a:xfrm>
            <a:off x="571500" y="1428750"/>
            <a:ext cx="3905400" cy="1428900"/>
            <a:chOff x="571500" y="1428750"/>
            <a:chExt cx="3905400" cy="1428900"/>
          </a:xfrm>
        </p:grpSpPr>
        <p:sp>
          <p:nvSpPr>
            <p:cNvPr id="182" name="Google Shape;182;p20"/>
            <p:cNvSpPr/>
            <p:nvPr/>
          </p:nvSpPr>
          <p:spPr>
            <a:xfrm>
              <a:off x="571500" y="1428750"/>
              <a:ext cx="3905400" cy="1428900"/>
            </a:xfrm>
            <a:prstGeom prst="roundRect">
              <a:avLst>
                <a:gd fmla="val 8000" name="adj"/>
              </a:avLst>
            </a:prstGeom>
            <a:solidFill>
              <a:srgbClr val="1E293B">
                <a:alpha val="80000"/>
              </a:srgbClr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20"/>
            <p:cNvSpPr txBox="1"/>
            <p:nvPr/>
          </p:nvSpPr>
          <p:spPr>
            <a:xfrm>
              <a:off x="809625" y="165430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EAB30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construction</a:t>
              </a:r>
              <a:endParaRPr sz="2400">
                <a:solidFill>
                  <a:srgbClr val="EAB30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84" name="Google Shape;184;p20"/>
            <p:cNvSpPr txBox="1"/>
            <p:nvPr/>
          </p:nvSpPr>
          <p:spPr>
            <a:xfrm>
              <a:off x="809625" y="2000250"/>
              <a:ext cx="3429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Feature Engineering</a:t>
              </a:r>
              <a:endParaRPr b="1" sz="1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CBD5E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Successfully parsed and one-hot encoded high-cardinality features (83 categories, 191 mechanics) using `MultiLabelBinarizer`.</a:t>
              </a:r>
              <a:endParaRPr b="0" sz="110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85" name="Google Shape;185;p20"/>
          <p:cNvGrpSpPr/>
          <p:nvPr/>
        </p:nvGrpSpPr>
        <p:grpSpPr>
          <a:xfrm>
            <a:off x="4667250" y="1428750"/>
            <a:ext cx="3905400" cy="1428900"/>
            <a:chOff x="4667250" y="1428750"/>
            <a:chExt cx="3905400" cy="1428900"/>
          </a:xfrm>
        </p:grpSpPr>
        <p:sp>
          <p:nvSpPr>
            <p:cNvPr id="186" name="Google Shape;186;p20"/>
            <p:cNvSpPr/>
            <p:nvPr/>
          </p:nvSpPr>
          <p:spPr>
            <a:xfrm>
              <a:off x="4667250" y="1428750"/>
              <a:ext cx="3905400" cy="1428900"/>
            </a:xfrm>
            <a:prstGeom prst="roundRect">
              <a:avLst>
                <a:gd fmla="val 8000" name="adj"/>
              </a:avLst>
            </a:prstGeom>
            <a:solidFill>
              <a:srgbClr val="1E293B">
                <a:alpha val="80000"/>
              </a:srgbClr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20"/>
            <p:cNvSpPr txBox="1"/>
            <p:nvPr/>
          </p:nvSpPr>
          <p:spPr>
            <a:xfrm>
              <a:off x="4905375" y="165430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EAB30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cloud_done</a:t>
              </a:r>
              <a:endParaRPr sz="2400">
                <a:solidFill>
                  <a:srgbClr val="EAB30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88" name="Google Shape;188;p20"/>
            <p:cNvSpPr txBox="1"/>
            <p:nvPr/>
          </p:nvSpPr>
          <p:spPr>
            <a:xfrm>
              <a:off x="4905375" y="2000250"/>
              <a:ext cx="3429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Deployment</a:t>
              </a:r>
              <a:endParaRPr b="1" sz="1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CBD5E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Navigated containerized deployment to Railway, overcoming "Mixed Content" errors and TypeScript iteration build errors.</a:t>
              </a:r>
              <a:endParaRPr b="0" sz="110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89" name="Google Shape;189;p20"/>
          <p:cNvGrpSpPr/>
          <p:nvPr/>
        </p:nvGrpSpPr>
        <p:grpSpPr>
          <a:xfrm>
            <a:off x="571500" y="3048000"/>
            <a:ext cx="8001000" cy="1333500"/>
            <a:chOff x="571500" y="3048000"/>
            <a:chExt cx="8001000" cy="1333500"/>
          </a:xfrm>
        </p:grpSpPr>
        <p:sp>
          <p:nvSpPr>
            <p:cNvPr id="190" name="Google Shape;190;p20"/>
            <p:cNvSpPr/>
            <p:nvPr/>
          </p:nvSpPr>
          <p:spPr>
            <a:xfrm>
              <a:off x="571500" y="3048000"/>
              <a:ext cx="8001000" cy="1333500"/>
            </a:xfrm>
            <a:prstGeom prst="roundRect">
              <a:avLst>
                <a:gd fmla="val 8571" name="adj"/>
              </a:avLst>
            </a:prstGeom>
            <a:solidFill>
              <a:srgbClr val="1E293B">
                <a:alpha val="80000"/>
              </a:srgbClr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20"/>
            <p:cNvSpPr txBox="1"/>
            <p:nvPr/>
          </p:nvSpPr>
          <p:spPr>
            <a:xfrm>
              <a:off x="809625" y="327355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EAB30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psychology</a:t>
              </a:r>
              <a:endParaRPr sz="2400">
                <a:solidFill>
                  <a:srgbClr val="EAB30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92" name="Google Shape;192;p20"/>
            <p:cNvSpPr txBox="1"/>
            <p:nvPr/>
          </p:nvSpPr>
          <p:spPr>
            <a:xfrm>
              <a:off x="1333500" y="3190875"/>
              <a:ext cx="70485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Model Tuning</a:t>
              </a:r>
              <a:endParaRPr b="1" sz="1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94A3B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Learned that a deeper architecture with Batch Normalization was necessary to significantly improve performance over the initial baseline network.</a:t>
              </a:r>
              <a:endParaRPr b="0" sz="1100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93" name="Google Shape;193;p20"/>
          <p:cNvGrpSpPr/>
          <p:nvPr/>
        </p:nvGrpSpPr>
        <p:grpSpPr>
          <a:xfrm>
            <a:off x="0" y="4667250"/>
            <a:ext cx="9144000" cy="476400"/>
            <a:chOff x="0" y="4667250"/>
            <a:chExt cx="9144000" cy="476400"/>
          </a:xfrm>
        </p:grpSpPr>
        <p:sp>
          <p:nvSpPr>
            <p:cNvPr id="194" name="Google Shape;194;p20"/>
            <p:cNvSpPr/>
            <p:nvPr/>
          </p:nvSpPr>
          <p:spPr>
            <a:xfrm>
              <a:off x="0" y="4667250"/>
              <a:ext cx="9144000" cy="476400"/>
            </a:xfrm>
            <a:prstGeom prst="rect">
              <a:avLst/>
            </a:prstGeom>
            <a:solidFill>
              <a:srgbClr val="0F172A">
                <a:alpha val="9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20"/>
            <p:cNvSpPr txBox="1"/>
            <p:nvPr/>
          </p:nvSpPr>
          <p:spPr>
            <a:xfrm>
              <a:off x="571500" y="4810125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64748B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BOARD GAME DESIGN ANALYSIS | 2026</a:t>
              </a:r>
              <a:endParaRPr b="0" sz="1000">
                <a:solidFill>
                  <a:srgbClr val="64748B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96" name="Google Shape;196;p20"/>
            <p:cNvSpPr txBox="1"/>
            <p:nvPr/>
          </p:nvSpPr>
          <p:spPr>
            <a:xfrm>
              <a:off x="7143750" y="4810125"/>
              <a:ext cx="14289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EAB308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ERIC LAM</a:t>
              </a:r>
              <a:endParaRPr b="0" sz="1000">
                <a:solidFill>
                  <a:srgbClr val="EAB308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21"/>
          <p:cNvPicPr preferRelativeResize="0"/>
          <p:nvPr/>
        </p:nvPicPr>
        <p:blipFill rotWithShape="1">
          <a:blip r:embed="rId3">
            <a:alphaModFix/>
          </a:blip>
          <a:srcRect b="0" l="1513" r="1522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>
              <a:alpha val="8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3" name="Google Shape;203;p21"/>
          <p:cNvGrpSpPr/>
          <p:nvPr/>
        </p:nvGrpSpPr>
        <p:grpSpPr>
          <a:xfrm>
            <a:off x="571500" y="428625"/>
            <a:ext cx="8001000" cy="904875"/>
            <a:chOff x="571500" y="428625"/>
            <a:chExt cx="8001000" cy="904875"/>
          </a:xfrm>
        </p:grpSpPr>
        <p:sp>
          <p:nvSpPr>
            <p:cNvPr id="204" name="Google Shape;204;p21"/>
            <p:cNvSpPr/>
            <p:nvPr/>
          </p:nvSpPr>
          <p:spPr>
            <a:xfrm>
              <a:off x="571500" y="428625"/>
              <a:ext cx="3810000" cy="47700"/>
            </a:xfrm>
            <a:prstGeom prst="rect">
              <a:avLst/>
            </a:prstGeom>
            <a:solidFill>
              <a:srgbClr val="EAB30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21"/>
            <p:cNvSpPr txBox="1"/>
            <p:nvPr/>
          </p:nvSpPr>
          <p:spPr>
            <a:xfrm>
              <a:off x="571500" y="571500"/>
              <a:ext cx="80010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600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Ethical &amp; Responsible AI Reflection</a:t>
              </a:r>
              <a:endParaRPr b="1" sz="36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</p:grpSp>
      <p:grpSp>
        <p:nvGrpSpPr>
          <p:cNvPr id="206" name="Google Shape;206;p21"/>
          <p:cNvGrpSpPr/>
          <p:nvPr/>
        </p:nvGrpSpPr>
        <p:grpSpPr>
          <a:xfrm>
            <a:off x="571500" y="1428750"/>
            <a:ext cx="3905400" cy="1428900"/>
            <a:chOff x="571500" y="1428750"/>
            <a:chExt cx="3905400" cy="1428900"/>
          </a:xfrm>
        </p:grpSpPr>
        <p:sp>
          <p:nvSpPr>
            <p:cNvPr id="207" name="Google Shape;207;p21"/>
            <p:cNvSpPr/>
            <p:nvPr/>
          </p:nvSpPr>
          <p:spPr>
            <a:xfrm>
              <a:off x="571500" y="1428750"/>
              <a:ext cx="3905400" cy="1428900"/>
            </a:xfrm>
            <a:prstGeom prst="roundRect">
              <a:avLst>
                <a:gd fmla="val 8000" name="adj"/>
              </a:avLst>
            </a:prstGeom>
            <a:solidFill>
              <a:srgbClr val="1E293B">
                <a:alpha val="80000"/>
              </a:srgbClr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21"/>
            <p:cNvSpPr txBox="1"/>
            <p:nvPr/>
          </p:nvSpPr>
          <p:spPr>
            <a:xfrm>
              <a:off x="809625" y="1654302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EAB30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error_outline</a:t>
              </a:r>
              <a:endParaRPr sz="2400">
                <a:solidFill>
                  <a:srgbClr val="EAB30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09" name="Google Shape;209;p21"/>
            <p:cNvSpPr txBox="1"/>
            <p:nvPr/>
          </p:nvSpPr>
          <p:spPr>
            <a:xfrm>
              <a:off x="809625" y="2000250"/>
              <a:ext cx="3429000" cy="857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Data Bias</a:t>
              </a:r>
              <a:endParaRPr b="1" sz="1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CBD5E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Training data reflects historical tastes of Kaggle/BGG users, potentially penalizing niche or innovative designs.</a:t>
              </a:r>
              <a:endParaRPr b="0" sz="110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210" name="Google Shape;210;p21"/>
          <p:cNvGrpSpPr/>
          <p:nvPr/>
        </p:nvGrpSpPr>
        <p:grpSpPr>
          <a:xfrm>
            <a:off x="4667250" y="1439807"/>
            <a:ext cx="3905400" cy="1428900"/>
            <a:chOff x="4667250" y="1428750"/>
            <a:chExt cx="3905400" cy="1428900"/>
          </a:xfrm>
        </p:grpSpPr>
        <p:sp>
          <p:nvSpPr>
            <p:cNvPr id="211" name="Google Shape;211;p21"/>
            <p:cNvSpPr/>
            <p:nvPr/>
          </p:nvSpPr>
          <p:spPr>
            <a:xfrm>
              <a:off x="4667250" y="1428750"/>
              <a:ext cx="3905400" cy="1428900"/>
            </a:xfrm>
            <a:prstGeom prst="roundRect">
              <a:avLst>
                <a:gd fmla="val 8000" name="adj"/>
              </a:avLst>
            </a:prstGeom>
            <a:solidFill>
              <a:srgbClr val="1E293B">
                <a:alpha val="80000"/>
              </a:srgbClr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21"/>
            <p:cNvSpPr txBox="1"/>
            <p:nvPr/>
          </p:nvSpPr>
          <p:spPr>
            <a:xfrm>
              <a:off x="4905375" y="1654302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EAB30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verified_user</a:t>
              </a:r>
              <a:endParaRPr sz="2400">
                <a:solidFill>
                  <a:srgbClr val="EAB30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13" name="Google Shape;213;p21"/>
            <p:cNvSpPr txBox="1"/>
            <p:nvPr/>
          </p:nvSpPr>
          <p:spPr>
            <a:xfrm>
              <a:off x="4905375" y="2000250"/>
              <a:ext cx="3429000" cy="857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Responsible Use</a:t>
              </a:r>
              <a:endParaRPr b="1" sz="1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CBD5E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Intended as an inspiration tool, not a judge, to promote diverse and inclusive game creation approaches.</a:t>
              </a:r>
              <a:endParaRPr b="0" sz="110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214" name="Google Shape;214;p21"/>
          <p:cNvGrpSpPr/>
          <p:nvPr/>
        </p:nvGrpSpPr>
        <p:grpSpPr>
          <a:xfrm>
            <a:off x="0" y="4667250"/>
            <a:ext cx="9144000" cy="476400"/>
            <a:chOff x="0" y="4667250"/>
            <a:chExt cx="9144000" cy="476400"/>
          </a:xfrm>
        </p:grpSpPr>
        <p:sp>
          <p:nvSpPr>
            <p:cNvPr id="215" name="Google Shape;215;p21"/>
            <p:cNvSpPr/>
            <p:nvPr/>
          </p:nvSpPr>
          <p:spPr>
            <a:xfrm>
              <a:off x="0" y="4667250"/>
              <a:ext cx="9144000" cy="476400"/>
            </a:xfrm>
            <a:prstGeom prst="rect">
              <a:avLst/>
            </a:prstGeom>
            <a:solidFill>
              <a:srgbClr val="0F172A">
                <a:alpha val="9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21"/>
            <p:cNvSpPr txBox="1"/>
            <p:nvPr/>
          </p:nvSpPr>
          <p:spPr>
            <a:xfrm>
              <a:off x="571500" y="4810125"/>
              <a:ext cx="38100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64748B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BOARD GAME DESIGN ANALYSIS | 2026</a:t>
              </a:r>
              <a:endParaRPr b="0" sz="1000">
                <a:solidFill>
                  <a:srgbClr val="64748B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217" name="Google Shape;217;p21"/>
            <p:cNvSpPr txBox="1"/>
            <p:nvPr/>
          </p:nvSpPr>
          <p:spPr>
            <a:xfrm>
              <a:off x="7143750" y="4810125"/>
              <a:ext cx="14289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EAB308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ERIC LAM</a:t>
              </a:r>
              <a:endParaRPr b="0" sz="1000">
                <a:solidFill>
                  <a:srgbClr val="EAB308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22"/>
          <p:cNvPicPr preferRelativeResize="0"/>
          <p:nvPr/>
        </p:nvPicPr>
        <p:blipFill rotWithShape="1">
          <a:blip r:embed="rId4">
            <a:alphaModFix/>
          </a:blip>
          <a:srcRect b="0" l="1513" r="1522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3" name="Google Shape;223;p22"/>
          <p:cNvGrpSpPr/>
          <p:nvPr/>
        </p:nvGrpSpPr>
        <p:grpSpPr>
          <a:xfrm>
            <a:off x="571500" y="428625"/>
            <a:ext cx="8001000" cy="904875"/>
            <a:chOff x="571500" y="428625"/>
            <a:chExt cx="8001000" cy="904875"/>
          </a:xfrm>
        </p:grpSpPr>
        <p:sp>
          <p:nvSpPr>
            <p:cNvPr id="224" name="Google Shape;224;p22"/>
            <p:cNvSpPr/>
            <p:nvPr/>
          </p:nvSpPr>
          <p:spPr>
            <a:xfrm>
              <a:off x="571500" y="428625"/>
              <a:ext cx="3810000" cy="47700"/>
            </a:xfrm>
            <a:prstGeom prst="rect">
              <a:avLst/>
            </a:prstGeom>
            <a:solidFill>
              <a:srgbClr val="EAB30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22"/>
            <p:cNvSpPr txBox="1"/>
            <p:nvPr/>
          </p:nvSpPr>
          <p:spPr>
            <a:xfrm>
              <a:off x="571500" y="571500"/>
              <a:ext cx="80010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600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Future Improvements</a:t>
              </a:r>
              <a:endParaRPr b="1" sz="36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</p:grpSp>
      <p:grpSp>
        <p:nvGrpSpPr>
          <p:cNvPr id="226" name="Google Shape;226;p22"/>
          <p:cNvGrpSpPr/>
          <p:nvPr/>
        </p:nvGrpSpPr>
        <p:grpSpPr>
          <a:xfrm>
            <a:off x="571488" y="1428900"/>
            <a:ext cx="3905400" cy="1428900"/>
            <a:chOff x="4667250" y="1428750"/>
            <a:chExt cx="3905400" cy="1428900"/>
          </a:xfrm>
        </p:grpSpPr>
        <p:sp>
          <p:nvSpPr>
            <p:cNvPr id="227" name="Google Shape;227;p22"/>
            <p:cNvSpPr/>
            <p:nvPr/>
          </p:nvSpPr>
          <p:spPr>
            <a:xfrm>
              <a:off x="4667250" y="1428750"/>
              <a:ext cx="3905400" cy="1428900"/>
            </a:xfrm>
            <a:prstGeom prst="roundRect">
              <a:avLst>
                <a:gd fmla="val 8000" name="adj"/>
              </a:avLst>
            </a:prstGeom>
            <a:solidFill>
              <a:srgbClr val="1E293B">
                <a:alpha val="80000"/>
              </a:srgbClr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22"/>
            <p:cNvSpPr txBox="1"/>
            <p:nvPr/>
          </p:nvSpPr>
          <p:spPr>
            <a:xfrm>
              <a:off x="4905375" y="1682877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400">
                  <a:solidFill>
                    <a:srgbClr val="EAB30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auto_awesome</a:t>
              </a:r>
              <a:endParaRPr b="0" sz="2400">
                <a:solidFill>
                  <a:srgbClr val="EAB30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29" name="Google Shape;229;p22"/>
            <p:cNvSpPr txBox="1"/>
            <p:nvPr/>
          </p:nvSpPr>
          <p:spPr>
            <a:xfrm>
              <a:off x="4905375" y="2000250"/>
              <a:ext cx="34290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Personalized Recommendations</a:t>
              </a:r>
              <a:endParaRPr b="1" sz="1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CBD5E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Incorporate collaborative filtering to offer custom board game suggestions.</a:t>
              </a:r>
              <a:endParaRPr b="0" sz="110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230" name="Google Shape;230;p22"/>
          <p:cNvGrpSpPr/>
          <p:nvPr/>
        </p:nvGrpSpPr>
        <p:grpSpPr>
          <a:xfrm>
            <a:off x="4667217" y="1476600"/>
            <a:ext cx="3905288" cy="1333500"/>
            <a:chOff x="571500" y="3048075"/>
            <a:chExt cx="8001000" cy="1333500"/>
          </a:xfrm>
        </p:grpSpPr>
        <p:sp>
          <p:nvSpPr>
            <p:cNvPr id="231" name="Google Shape;231;p22"/>
            <p:cNvSpPr/>
            <p:nvPr/>
          </p:nvSpPr>
          <p:spPr>
            <a:xfrm>
              <a:off x="571500" y="3048075"/>
              <a:ext cx="8001000" cy="1333500"/>
            </a:xfrm>
            <a:prstGeom prst="roundRect">
              <a:avLst>
                <a:gd fmla="val 8571" name="adj"/>
              </a:avLst>
            </a:prstGeom>
            <a:solidFill>
              <a:srgbClr val="1E293B">
                <a:alpha val="80000"/>
              </a:srgbClr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22"/>
            <p:cNvSpPr txBox="1"/>
            <p:nvPr/>
          </p:nvSpPr>
          <p:spPr>
            <a:xfrm>
              <a:off x="809625" y="3302127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400">
                  <a:solidFill>
                    <a:srgbClr val="EAB30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visibility</a:t>
              </a:r>
              <a:endParaRPr b="0" sz="2400">
                <a:solidFill>
                  <a:srgbClr val="EAB30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33" name="Google Shape;233;p22"/>
            <p:cNvSpPr txBox="1"/>
            <p:nvPr/>
          </p:nvSpPr>
          <p:spPr>
            <a:xfrm>
              <a:off x="1333500" y="3190875"/>
              <a:ext cx="7048500" cy="1047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Multimodal LLM Analysis</a:t>
              </a:r>
              <a:endParaRPr b="1" sz="1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94A3B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Utilize LLMs to analyze box art and extract mechanics directly from rulebook PDFs.</a:t>
              </a:r>
              <a:endParaRPr b="0" sz="1100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234" name="Google Shape;234;p22"/>
          <p:cNvGrpSpPr/>
          <p:nvPr/>
        </p:nvGrpSpPr>
        <p:grpSpPr>
          <a:xfrm>
            <a:off x="0" y="4667250"/>
            <a:ext cx="9144000" cy="476400"/>
            <a:chOff x="0" y="4667250"/>
            <a:chExt cx="9144000" cy="476400"/>
          </a:xfrm>
        </p:grpSpPr>
        <p:sp>
          <p:nvSpPr>
            <p:cNvPr id="235" name="Google Shape;235;p22"/>
            <p:cNvSpPr/>
            <p:nvPr/>
          </p:nvSpPr>
          <p:spPr>
            <a:xfrm>
              <a:off x="0" y="4667250"/>
              <a:ext cx="9144000" cy="476400"/>
            </a:xfrm>
            <a:prstGeom prst="rect">
              <a:avLst/>
            </a:prstGeom>
            <a:solidFill>
              <a:srgbClr val="0F172A">
                <a:alpha val="9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22"/>
            <p:cNvSpPr txBox="1"/>
            <p:nvPr/>
          </p:nvSpPr>
          <p:spPr>
            <a:xfrm>
              <a:off x="571500" y="4810125"/>
              <a:ext cx="38100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64748B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BOARD GAME DESIGN ANALYSIS | 2026</a:t>
              </a:r>
              <a:endParaRPr b="0" sz="1000">
                <a:solidFill>
                  <a:srgbClr val="64748B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237" name="Google Shape;237;p22"/>
            <p:cNvSpPr txBox="1"/>
            <p:nvPr/>
          </p:nvSpPr>
          <p:spPr>
            <a:xfrm>
              <a:off x="7143750" y="4810125"/>
              <a:ext cx="14289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EAB308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ERIC LAM</a:t>
              </a:r>
              <a:endParaRPr b="0" sz="1000">
                <a:solidFill>
                  <a:srgbClr val="EAB308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p23"/>
          <p:cNvPicPr preferRelativeResize="0"/>
          <p:nvPr/>
        </p:nvPicPr>
        <p:blipFill rotWithShape="1">
          <a:blip r:embed="rId3">
            <a:alphaModFix/>
          </a:blip>
          <a:srcRect b="0" l="1513" r="1522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>
              <a:alpha val="8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4" name="Google Shape;244;p23"/>
          <p:cNvGrpSpPr/>
          <p:nvPr/>
        </p:nvGrpSpPr>
        <p:grpSpPr>
          <a:xfrm>
            <a:off x="571500" y="428625"/>
            <a:ext cx="8001000" cy="904875"/>
            <a:chOff x="571500" y="428625"/>
            <a:chExt cx="8001000" cy="904875"/>
          </a:xfrm>
        </p:grpSpPr>
        <p:sp>
          <p:nvSpPr>
            <p:cNvPr id="245" name="Google Shape;245;p23"/>
            <p:cNvSpPr/>
            <p:nvPr/>
          </p:nvSpPr>
          <p:spPr>
            <a:xfrm>
              <a:off x="571500" y="428625"/>
              <a:ext cx="3810000" cy="47700"/>
            </a:xfrm>
            <a:prstGeom prst="rect">
              <a:avLst/>
            </a:prstGeom>
            <a:solidFill>
              <a:srgbClr val="EAB30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23"/>
            <p:cNvSpPr txBox="1"/>
            <p:nvPr/>
          </p:nvSpPr>
          <p:spPr>
            <a:xfrm>
              <a:off x="571500" y="571500"/>
              <a:ext cx="80010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600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Q &amp; A</a:t>
              </a:r>
              <a:endParaRPr b="1" sz="36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</p:grpSp>
      <p:grpSp>
        <p:nvGrpSpPr>
          <p:cNvPr id="247" name="Google Shape;247;p23"/>
          <p:cNvGrpSpPr/>
          <p:nvPr/>
        </p:nvGrpSpPr>
        <p:grpSpPr>
          <a:xfrm>
            <a:off x="809625" y="1654302"/>
            <a:ext cx="5715075" cy="1489098"/>
            <a:chOff x="809625" y="1654302"/>
            <a:chExt cx="5715075" cy="1489098"/>
          </a:xfrm>
        </p:grpSpPr>
        <p:sp>
          <p:nvSpPr>
            <p:cNvPr id="248" name="Google Shape;248;p23"/>
            <p:cNvSpPr/>
            <p:nvPr/>
          </p:nvSpPr>
          <p:spPr>
            <a:xfrm>
              <a:off x="2619300" y="1714500"/>
              <a:ext cx="3905400" cy="1428900"/>
            </a:xfrm>
            <a:prstGeom prst="roundRect">
              <a:avLst>
                <a:gd fmla="val 8000" name="adj"/>
              </a:avLst>
            </a:prstGeom>
            <a:solidFill>
              <a:srgbClr val="1E293B">
                <a:alpha val="80000"/>
              </a:srgbClr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23"/>
            <p:cNvSpPr txBox="1"/>
            <p:nvPr/>
          </p:nvSpPr>
          <p:spPr>
            <a:xfrm>
              <a:off x="809625" y="1654302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EAB30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error_ouline</a:t>
              </a:r>
              <a:endParaRPr sz="2400">
                <a:solidFill>
                  <a:srgbClr val="EAB30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50" name="Google Shape;250;p23"/>
            <p:cNvSpPr txBox="1"/>
            <p:nvPr/>
          </p:nvSpPr>
          <p:spPr>
            <a:xfrm>
              <a:off x="2857500" y="2000250"/>
              <a:ext cx="3429000" cy="857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CBD5E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Thank you!</a:t>
              </a:r>
              <a:endParaRPr b="0" sz="110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251" name="Google Shape;251;p23"/>
          <p:cNvGrpSpPr/>
          <p:nvPr/>
        </p:nvGrpSpPr>
        <p:grpSpPr>
          <a:xfrm>
            <a:off x="0" y="4667250"/>
            <a:ext cx="9144000" cy="476400"/>
            <a:chOff x="0" y="4667250"/>
            <a:chExt cx="9144000" cy="476400"/>
          </a:xfrm>
        </p:grpSpPr>
        <p:sp>
          <p:nvSpPr>
            <p:cNvPr id="252" name="Google Shape;252;p23"/>
            <p:cNvSpPr/>
            <p:nvPr/>
          </p:nvSpPr>
          <p:spPr>
            <a:xfrm>
              <a:off x="0" y="4667250"/>
              <a:ext cx="9144000" cy="476400"/>
            </a:xfrm>
            <a:prstGeom prst="rect">
              <a:avLst/>
            </a:prstGeom>
            <a:solidFill>
              <a:srgbClr val="0F172A">
                <a:alpha val="9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23"/>
            <p:cNvSpPr txBox="1"/>
            <p:nvPr/>
          </p:nvSpPr>
          <p:spPr>
            <a:xfrm>
              <a:off x="571500" y="4810125"/>
              <a:ext cx="38100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64748B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BOARD GAME DESIGN ANALYSIS | 2026</a:t>
              </a:r>
              <a:endParaRPr b="0" sz="1000">
                <a:solidFill>
                  <a:srgbClr val="64748B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254" name="Google Shape;254;p23"/>
            <p:cNvSpPr txBox="1"/>
            <p:nvPr/>
          </p:nvSpPr>
          <p:spPr>
            <a:xfrm>
              <a:off x="7143750" y="4810125"/>
              <a:ext cx="14289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EAB308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ERIC LAM</a:t>
              </a:r>
              <a:endParaRPr b="0" sz="1000">
                <a:solidFill>
                  <a:srgbClr val="EAB308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